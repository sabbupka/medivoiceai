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" id="{DDCAB3F2-83A5-3A41-4247-D2A8B21E0BC3}">
          <p14:sldIdLst>
            <p14:sldId id="256"/>
          </p14:sldIdLst>
        </p14:section>
        <p14:section name="Вопрос 1" id="{88B9EA6C-BD5B-767D-BCAA-937DE727C5E2}">
          <p14:sldIdLst>
            <p14:sldId id="257"/>
          </p14:sldIdLst>
        </p14:section>
        <p14:section name="Вопрос 2" id="{7363BDA8-00C6-07FF-17A0-D0FEC8B98AFC}">
          <p14:sldIdLst>
            <p14:sldId id="258"/>
          </p14:sldIdLst>
        </p14:section>
        <p14:section name="Вопрос 3" id="{31679656-96D3-3BF0-73F9-25E6D7600658}">
          <p14:sldIdLst>
            <p14:sldId id="259"/>
          </p14:sldIdLst>
        </p14:section>
        <p14:section name="Вопрос 4" id="{2F0FBDD3-FE46-8704-57E4-A1203358BC99}">
          <p14:sldIdLst>
            <p14:sldId id="260"/>
          </p14:sldIdLst>
        </p14:section>
        <p14:section name="Вопрос 5" id="{114B3388-14F2-E68F-5BF9-76F116134E97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8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8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ln w="15875">
            <a:solidFill>
              <a:srgbClr val="BDBD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6144768"/>
            <a:ext cx="548640" cy="438912"/>
          </a:xfrm>
          <a:prstGeom prst="rect">
            <a:avLst/>
          </a:prstGeom>
          <a:solidFill>
            <a:srgbClr val="111111"/>
          </a:solidFill>
          <a:ln w="15875">
            <a:solidFill>
              <a:srgbClr val="BDBDBD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SabBupka/MediVoiceAI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3A3A"/>
                </a:solidFill>
              </a:rPr>
              <a:t>root</a:t>
            </a:r>
            <a:r>
              <a:rPr lang="en-US" sz="1400" dirty="0">
                <a:solidFill>
                  <a:srgbClr val="FFFFFF"/>
                </a:solidFill>
              </a:rPr>
              <a:t>@tagilla_team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03A3A"/>
                </a:solidFill>
              </a:rPr>
              <a:t>ПРОДУКТОВЫЙ ЧЕКПОИНТ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TAGILLA TEAM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03A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MediVoiceAI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Кейс команды: «Голосовой ассистент для записи в клинику»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</a:rPr>
              <a:t>Ассистент регистратуры для автоматизации типовых обращений пациентов</a:t>
            </a:r>
            <a:endParaRPr lang="en-US" sz="1600" dirty="0"/>
          </a:p>
        </p:txBody>
      </p:sp>
      <p:pic>
        <p:nvPicPr>
          <p:cNvPr id="8" name="Image 0" descr="Изображение команды TAGIL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6868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164592"/>
            <a:ext cx="1920240" cy="21945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3A3A"/>
                </a:solidFill>
              </a:rPr>
              <a:t>root</a:t>
            </a:r>
            <a:r>
              <a:rPr lang="en-US" sz="1100" dirty="0">
                <a:solidFill>
                  <a:srgbClr val="FFFFFF"/>
                </a:solidFill>
              </a:rPr>
              <a:t>@tagilla_team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75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3A3A"/>
                </a:solidFill>
              </a:rPr>
              <a:t>ВОПРОС_1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521208"/>
            <a:ext cx="502920" cy="15544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65992" y="6144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Какую бизнес-задачу мы решаем и кто наш пользователь?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200400" cy="365760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94767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5603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Запись, перенос, отмена, справка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Рутина занимает время сотрудников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Пациенты ждут ответа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Сложным случаям не хватает внимания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3337560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80560" y="1600200"/>
            <a:ext cx="3200400" cy="365760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0" y="182880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9476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924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ПОЛЬЗОВАТЕЛИ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5603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Пациент: основной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Регистратор: внутренний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Клиника: потенциальный заказчик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337560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138160" y="1600200"/>
            <a:ext cx="3200400" cy="365760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412480" y="182880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194767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0684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РЕШЕНИЕ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412480" y="25603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Автоматизирует типовые операции регистратуры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Помогает сотрудникам, не заменяет врача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Сложное передаёт человеку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051560" y="5486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Эффект на пропущенные звонки и ожидание пока не измерен: это задача пилота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164592"/>
            <a:ext cx="1920240" cy="21945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3A3A"/>
                </a:solidFill>
              </a:rPr>
              <a:t>root</a:t>
            </a:r>
            <a:r>
              <a:rPr lang="en-US" sz="1100" dirty="0">
                <a:solidFill>
                  <a:srgbClr val="FFFFFF"/>
                </a:solidFill>
              </a:rPr>
              <a:t>@tagilla_team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75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3A3A"/>
                </a:solidFill>
              </a:rPr>
              <a:t>ВОПРОС_2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521208"/>
            <a:ext cx="502920" cy="15544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65992" y="6144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Какие требования и ограничения учитывает наше решение?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309360" cy="384048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9019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ЧТО</a:t>
            </a:r>
            <a:r>
              <a:rPr lang="ru-RU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РЕАЛИЗОВАНО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423160"/>
            <a:ext cx="5852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Текстовые сессии и обработка реплик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Поиск врача и свободных слотов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Запись: подтверждение данных и создание визита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API-сценарии переноса и отмены визитов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Локальный поиск по регламенту с источником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Эскалация жалоб и медобращений регистратору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Адаптер реестра, mock-режим, локальная SQLite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Импорт расписания из Excel, блокировка слотов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API классификации намерений (локальная LLM)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API планирования напоминаний и оценки качества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06640" y="1600200"/>
            <a:ext cx="3931920" cy="384048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0" y="178308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190195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2753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ОГРАНИЧЕНИЯ</a:t>
            </a:r>
            <a:r>
              <a:rPr lang="ru-RU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MVP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242316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Телефония Asterisk/SIP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ASR и TTS: распознавание и синтез речи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Автоматические исходящие звонки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Подключение к реальной МИС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Продакшн-мониторинг и бизнес-метрики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Frontend рабочего места оператора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51560" y="55778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Сейчас это backend-прототип с текстовыми API. Локальная LLM классифицирует намерения отдельно и пока не управляет записью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164592"/>
            <a:ext cx="1920240" cy="21945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3A3A"/>
                </a:solidFill>
              </a:rPr>
              <a:t>root</a:t>
            </a:r>
            <a:r>
              <a:rPr lang="en-US" sz="1100" dirty="0">
                <a:solidFill>
                  <a:srgbClr val="FFFFFF"/>
                </a:solidFill>
              </a:rPr>
              <a:t>@tagilla_team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75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3A3A"/>
                </a:solidFill>
              </a:rPr>
              <a:t>ВОПРОС_3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521208"/>
            <a:ext cx="502920" cy="15544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65992" y="6144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Как устроен основной сценарий решения кейса?</a:t>
            </a:r>
            <a:endParaRPr lang="en-US" sz="2400" dirty="0"/>
          </a:p>
        </p:txBody>
      </p:sp>
      <p:pic>
        <p:nvPicPr>
          <p:cNvPr id="7" name="Image 0" descr="Концепт интерфейса оператора MediVoice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3492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554480"/>
            <a:ext cx="5349240" cy="356616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17550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Концепт интерфейса оператора MediVoiceAI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</a:rPr>
              <a:t>Дизайн-концепт, не работающее приложение; голос пока не реализован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1581912"/>
            <a:ext cx="365760" cy="36576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554480"/>
            <a:ext cx="4297680" cy="457200"/>
          </a:xfrm>
          <a:prstGeom prst="rect">
            <a:avLst/>
          </a:prstGeom>
          <a:noFill/>
          <a:ln/>
        </p:spPr>
        <p:txBody>
          <a:bodyPr wrap="square" lIns="889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Пациент обращается с запросом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2066544"/>
            <a:ext cx="365760" cy="36576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039112"/>
            <a:ext cx="4297680" cy="457200"/>
          </a:xfrm>
          <a:prstGeom prst="rect">
            <a:avLst/>
          </a:prstGeom>
          <a:noFill/>
          <a:ln/>
        </p:spPr>
        <p:txBody>
          <a:bodyPr wrap="square" lIns="889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Система определяет сценарий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2551176"/>
            <a:ext cx="365760" cy="36576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523744"/>
            <a:ext cx="4297680" cy="457200"/>
          </a:xfrm>
          <a:prstGeom prst="rect">
            <a:avLst/>
          </a:prstGeom>
          <a:noFill/>
          <a:ln/>
        </p:spPr>
        <p:txBody>
          <a:bodyPr wrap="square" lIns="889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Находит врача и слоты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3035808"/>
            <a:ext cx="365760" cy="36576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008376"/>
            <a:ext cx="4297680" cy="457200"/>
          </a:xfrm>
          <a:prstGeom prst="rect">
            <a:avLst/>
          </a:prstGeom>
          <a:noFill/>
          <a:ln/>
        </p:spPr>
        <p:txBody>
          <a:bodyPr wrap="square" lIns="889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Запрашивает данные и подтверждение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92240" y="3520440"/>
            <a:ext cx="365760" cy="36576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493008"/>
            <a:ext cx="4297680" cy="457200"/>
          </a:xfrm>
          <a:prstGeom prst="rect">
            <a:avLst/>
          </a:prstGeom>
          <a:noFill/>
          <a:ln/>
        </p:spPr>
        <p:txBody>
          <a:bodyPr wrap="square" lIns="889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Создаёт визит через API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92240" y="4005072"/>
            <a:ext cx="365760" cy="36576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9224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3977640"/>
            <a:ext cx="4297680" cy="658368"/>
          </a:xfrm>
          <a:prstGeom prst="rect">
            <a:avLst/>
          </a:prstGeom>
          <a:noFill/>
          <a:ln/>
        </p:spPr>
        <p:txBody>
          <a:bodyPr wrap="square" lIns="889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Возвращает результат или передаёт регистратору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92240" y="4526280"/>
            <a:ext cx="4846320" cy="1051560"/>
          </a:xfrm>
          <a:prstGeom prst="rect">
            <a:avLst/>
          </a:prstGeom>
          <a:solidFill>
            <a:srgbClr val="2A1515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4617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03A3A"/>
                </a:solidFill>
              </a:rPr>
              <a:t>ЭСКАЛАЦИЯ → регистратор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Медицинский вопрос, жалоба, нераспознанное обращение или случай для сотрудника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22960" y="5687568"/>
            <a:ext cx="955755" cy="329184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5687568"/>
            <a:ext cx="955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888443" y="5687568"/>
            <a:ext cx="1607774" cy="329184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888443" y="5687568"/>
            <a:ext cx="16077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DialogueEngine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05944" y="5687568"/>
            <a:ext cx="1607774" cy="329184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605944" y="5687568"/>
            <a:ext cx="16077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RegistryClient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323446" y="5687568"/>
            <a:ext cx="1328337" cy="329184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323446" y="5687568"/>
            <a:ext cx="132833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SlotManager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761511" y="5687568"/>
            <a:ext cx="862609" cy="329184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761511" y="5687568"/>
            <a:ext cx="8626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733848" y="5687568"/>
            <a:ext cx="1980356" cy="329184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33848" y="5687568"/>
            <a:ext cx="1980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LocalKnowledgeBase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823932" y="5687568"/>
            <a:ext cx="1514628" cy="329184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823932" y="5687568"/>
            <a:ext cx="15146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Локальная LLM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22960" y="6126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Репозиторий: </a:t>
            </a:r>
            <a:r>
              <a:rPr lang="en-US" sz="1200" u="sng" dirty="0">
                <a:solidFill>
                  <a:srgbClr val="6EA8FF"/>
                </a:solidFill>
                <a:hlinkClick r:id="rId4" tooltip="Репозиторий MediVoice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github.com/SabBupka/MediVoiceAI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164592"/>
            <a:ext cx="1920240" cy="21945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3A3A"/>
                </a:solidFill>
              </a:rPr>
              <a:t>root</a:t>
            </a:r>
            <a:r>
              <a:rPr lang="en-US" sz="1100" dirty="0">
                <a:solidFill>
                  <a:srgbClr val="FFFFFF"/>
                </a:solidFill>
              </a:rPr>
              <a:t>@tagilla_team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75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3A3A"/>
                </a:solidFill>
              </a:rPr>
              <a:t>ВОПРОС_4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521208"/>
            <a:ext cx="502920" cy="15544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65992" y="6144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Какую ценность получают пользователь и бизнес?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200400" cy="310896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9019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ПАЦИЕНТ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46888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Понятный путь к записи к врачу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Подтверждённая справочная информация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Сложное обращение уходит сотруднику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80560" y="1600200"/>
            <a:ext cx="3200400" cy="310896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178308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90195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РЕГИСТРАТОР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754880" y="246888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Потенциально меньше ручной работы с типовыми запросами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Единообразная обработка обращений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Больше времени на сложные случаи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38160" y="1600200"/>
            <a:ext cx="3200400" cy="310896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12480" y="178308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190195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068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КЛИНИКА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246888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Потенциал повышения доступности регистратуры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Меньше риска ошибок в расписании при корректной интеграции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Можно измерять качество и эффективность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97280" y="5138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525780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828800" y="4892040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«MediVoiceAI автоматизирует типовые операции регистратуры и оставляет сложные случаи человеку»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</a:rPr>
              <a:t>Количественные эффекты не заявляются: пилот ещё не проводился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164592"/>
            <a:ext cx="1920240" cy="21945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3A3A"/>
                </a:solidFill>
              </a:rPr>
              <a:t>root</a:t>
            </a:r>
            <a:r>
              <a:rPr lang="en-US" sz="1100" dirty="0">
                <a:solidFill>
                  <a:srgbClr val="FFFFFF"/>
                </a:solidFill>
              </a:rPr>
              <a:t>@tagilla_team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75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3A3A"/>
                </a:solidFill>
              </a:rPr>
              <a:t>ВОПРОС_5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521208"/>
            <a:ext cx="502920" cy="15544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65992" y="6144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Как мы поймём, что решение работает успешно?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309360" cy="384048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9019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ПРОВЕРЯЕМ</a:t>
            </a:r>
            <a:r>
              <a:rPr lang="ru-RU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СЕЙЧАС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377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03A3A"/>
                </a:solidFill>
              </a:rPr>
              <a:t>Целевые критерии тестов, а не достигнутые результаты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743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Успешные прохождения сценария записи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</a:rPr>
              <a:t>Цель теста: не менее 95% на контролируемом наборе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2735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Двойные бронирования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</a:rPr>
              <a:t>Цель теста: 0 в тестах конфликта слотов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8039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Корректная эскалация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</a:rPr>
              <a:t>Цель теста: 100% на подготовленном наборе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43342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Справочные ответы с источником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</a:rPr>
              <a:t>Цель теста: каждый ответ подтверждён источником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8646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Время ответа API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</a:rPr>
              <a:t>Медиана и 95-й перцентиль, цель не задана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06640" y="1600200"/>
            <a:ext cx="3931920" cy="3840480"/>
          </a:xfrm>
          <a:prstGeom prst="rect">
            <a:avLst/>
          </a:prstGeom>
          <a:solidFill>
            <a:srgbClr val="1B1B1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0" y="1783080"/>
            <a:ext cx="457200" cy="457200"/>
          </a:xfrm>
          <a:prstGeom prst="ellipse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190195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753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ИЗМЕРИМ</a:t>
            </a:r>
            <a:r>
              <a:rPr lang="ru-RU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</a:t>
            </a:r>
            <a:r>
              <a:rPr lang="ru-RU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ПИЛОТЕ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</a:rPr>
              <a:t>Цели зададим вместе с клиникой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680960" y="2779776"/>
            <a:ext cx="182880" cy="182880"/>
          </a:xfrm>
          <a:prstGeom prst="ellipse">
            <a:avLst/>
          </a:prstGeom>
          <a:solidFill>
            <a:srgbClr val="1B1B1B"/>
          </a:solidFill>
          <a:ln w="19050">
            <a:solidFill>
              <a:srgbClr val="E03A3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046720" y="274320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Типовые обращения без регистратора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680960" y="3227832"/>
            <a:ext cx="182880" cy="182880"/>
          </a:xfrm>
          <a:prstGeom prst="ellipse">
            <a:avLst/>
          </a:prstGeom>
          <a:solidFill>
            <a:srgbClr val="1B1B1B"/>
          </a:solidFill>
          <a:ln w="19050">
            <a:solidFill>
              <a:srgbClr val="E03A3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046720" y="319125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Изменение числа пропущенных звонков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680960" y="3675888"/>
            <a:ext cx="182880" cy="182880"/>
          </a:xfrm>
          <a:prstGeom prst="ellipse">
            <a:avLst/>
          </a:prstGeom>
          <a:solidFill>
            <a:srgbClr val="1B1B1B"/>
          </a:solidFill>
          <a:ln w="19050">
            <a:solidFill>
              <a:srgbClr val="E03A3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046720" y="363931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Время обработки типового обращения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7680960" y="4123944"/>
            <a:ext cx="182880" cy="182880"/>
          </a:xfrm>
          <a:prstGeom prst="ellipse">
            <a:avLst/>
          </a:prstGeom>
          <a:solidFill>
            <a:srgbClr val="1B1B1B"/>
          </a:solidFill>
          <a:ln w="19050">
            <a:solidFill>
              <a:srgbClr val="E03A3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046720" y="408736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Удовлетворённость пациентов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680960" y="4572000"/>
            <a:ext cx="182880" cy="182880"/>
          </a:xfrm>
          <a:prstGeom prst="ellipse">
            <a:avLst/>
          </a:prstGeom>
          <a:solidFill>
            <a:srgbClr val="1B1B1B"/>
          </a:solidFill>
          <a:ln w="19050">
            <a:solidFill>
              <a:srgbClr val="E03A3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46720" y="453542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Ошибочные записи и повторы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7680960" y="5020056"/>
            <a:ext cx="182880" cy="182880"/>
          </a:xfrm>
          <a:prstGeom prst="ellipse">
            <a:avLst/>
          </a:prstGeom>
          <a:solidFill>
            <a:srgbClr val="1B1B1B"/>
          </a:solidFill>
          <a:ln w="19050">
            <a:solidFill>
              <a:srgbClr val="E03A3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046720" y="49834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Корректно переданные сложные обращения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solidFill>
            <a:srgbClr val="8E1B1B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51560" y="55778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Сначала проверяем корректность сценариев и безопасность MVP, затем на пилоте измеряем реальный бизнес-эффект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gillaTerminal">
  <a:themeElements>
    <a:clrScheme name="TagillaTerminal">
      <a:dk1>
        <a:srgbClr val="111111"/>
      </a:dk1>
      <a:lt1>
        <a:srgbClr val="FFFFFF"/>
      </a:lt1>
      <a:dk2>
        <a:srgbClr val="1B1B1B"/>
      </a:dk2>
      <a:lt2>
        <a:srgbClr val="A0A0A0"/>
      </a:lt2>
      <a:accent1>
        <a:srgbClr val="E03A3A"/>
      </a:accent1>
      <a:accent2>
        <a:srgbClr val="3DDC97"/>
      </a:accent2>
      <a:accent3>
        <a:srgbClr val="8E1B1B"/>
      </a:accent3>
      <a:accent4>
        <a:srgbClr val="3A3A3A"/>
      </a:accent4>
      <a:accent5>
        <a:srgbClr val="A0A0A0"/>
      </a:accent5>
      <a:accent6>
        <a:srgbClr val="6EA8FF"/>
      </a:accent6>
      <a:hlink>
        <a:srgbClr val="6EA8FF"/>
      </a:hlink>
      <a:folHlink>
        <a:srgbClr val="A0A0A0"/>
      </a:folHlink>
    </a:clrScheme>
    <a:fontScheme name="TagillaTermi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538</Words>
  <Application>Microsoft Office PowerPoint</Application>
  <PresentationFormat>Широкоэкранный</PresentationFormat>
  <Paragraphs>124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Arial</vt:lpstr>
      <vt:lpstr>TagillaTerminal</vt:lpstr>
      <vt:lpstr>Презентация PowerPoint</vt:lpstr>
      <vt:lpstr>Какую бизнес-задачу мы решаем и кто наш пользователь?</vt:lpstr>
      <vt:lpstr>Какие требования и ограничения учитывает наше решение?</vt:lpstr>
      <vt:lpstr>Как устроен основной сценарий решения кейса?</vt:lpstr>
      <vt:lpstr>Какую ценность получают пользователь и бизнес?</vt:lpstr>
      <vt:lpstr>Как мы поймём, что решение работает успешно?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MediVoiceAI — TAGILLA TEAM</dc:title>
  <dc:subject>PptxGenJS Presentation</dc:subject>
  <dc:creator>TAGILLA TEAM</dc:creator>
  <cp:lastModifiedBy>antosho</cp:lastModifiedBy>
  <cp:revision>4</cp:revision>
  <dcterms:created xsi:type="dcterms:W3CDTF">2026-10-15T15:32:08Z</dcterms:created>
  <dcterms:modified xsi:type="dcterms:W3CDTF">2026-10-15T15:39:23Z</dcterms:modified>
</cp:coreProperties>
</file>